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EAF50B-3B0A-438F-86DE-F7476792B978}">
  <a:tblStyle styleId="{1AEAF50B-3B0A-438F-86DE-F7476792B97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Italic.fntdata"/><Relationship Id="rId25"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47bd755fb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47bd755fb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5183188" y="987425"/>
            <a:ext cx="6172200" cy="4873625"/>
          </a:xfrm>
          <a:prstGeom prst="rect">
            <a:avLst/>
          </a:prstGeom>
          <a:noFill/>
          <a:ln>
            <a:noFill/>
          </a:ln>
        </p:spPr>
      </p:sp>
      <p:sp>
        <p:nvSpPr>
          <p:cNvPr id="58" name="Google Shape;58;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12"/>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13"/>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13"/>
          <p:cNvGraphicFramePr/>
          <p:nvPr/>
        </p:nvGraphicFramePr>
        <p:xfrm>
          <a:off x="1299257" y="2600315"/>
          <a:ext cx="3000000" cy="3000000"/>
        </p:xfrm>
        <a:graphic>
          <a:graphicData uri="http://schemas.openxmlformats.org/drawingml/2006/table">
            <a:tbl>
              <a:tblPr>
                <a:noFill/>
                <a:tableStyleId>{1AEAF50B-3B0A-438F-86DE-F7476792B978}</a:tableStyleId>
              </a:tblPr>
              <a:tblGrid>
                <a:gridCol w="2064875"/>
                <a:gridCol w="2443375"/>
                <a:gridCol w="2759900"/>
                <a:gridCol w="2126850"/>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US"/>
                        <a:t>            </a:t>
                      </a:r>
                      <a:r>
                        <a:rPr lang="en-US" sz="2000"/>
                        <a:t>Sumit</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US" sz="1900"/>
                        <a:t>s20025261@gmail.com</a:t>
                      </a:r>
                      <a:endParaRPr sz="19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US"/>
                        <a:t>       </a:t>
                      </a:r>
                      <a:r>
                        <a:rPr lang="en-US" sz="2000"/>
                        <a:t> 7419075831</a:t>
                      </a:r>
                      <a:endParaRPr sz="20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7" name="Google Shape;87;p13" title="11242456.png"/>
          <p:cNvPicPr preferRelativeResize="0"/>
          <p:nvPr/>
        </p:nvPicPr>
        <p:blipFill rotWithShape="1">
          <a:blip r:embed="rId3">
            <a:alphaModFix/>
          </a:blip>
          <a:srcRect b="0" l="2453" r="2453" t="0"/>
          <a:stretch/>
        </p:blipFill>
        <p:spPr>
          <a:xfrm>
            <a:off x="3970275" y="3680625"/>
            <a:ext cx="987949" cy="997525"/>
          </a:xfrm>
          <a:prstGeom prst="rect">
            <a:avLst/>
          </a:prstGeom>
          <a:noFill/>
          <a:ln>
            <a:noFill/>
          </a:ln>
        </p:spPr>
      </p:pic>
      <p:sp>
        <p:nvSpPr>
          <p:cNvPr id="88" name="Google Shape;88;p13"/>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Educational Technology &amp; Applied AI  </a:t>
            </a:r>
            <a:endParaRPr b="1" i="0" sz="2400" u="none" cap="none" strike="noStrike">
              <a:solidFill>
                <a:srgbClr val="000000"/>
              </a:solidFill>
              <a:highlight>
                <a:srgbClr val="FFFF00"/>
              </a:highlight>
              <a:latin typeface="Arial"/>
              <a:ea typeface="Arial"/>
              <a:cs typeface="Arial"/>
              <a:sym typeface="Arial"/>
            </a:endParaRPr>
          </a:p>
        </p:txBody>
      </p:sp>
      <p:sp>
        <p:nvSpPr>
          <p:cNvPr id="89" name="Google Shape;89;p13"/>
          <p:cNvSpPr txBox="1"/>
          <p:nvPr/>
        </p:nvSpPr>
        <p:spPr>
          <a:xfrm>
            <a:off x="1206162" y="551965"/>
            <a:ext cx="9581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a:t>
            </a:r>
            <a:r>
              <a:rPr b="1" lang="en-US" sz="2400"/>
              <a:t>Title</a:t>
            </a:r>
            <a:r>
              <a:rPr b="1" i="0" lang="en-US" sz="2400" u="none" cap="none" strike="noStrike">
                <a:solidFill>
                  <a:srgbClr val="000000"/>
                </a:solidFill>
                <a:latin typeface="Arial"/>
                <a:ea typeface="Arial"/>
                <a:cs typeface="Arial"/>
                <a:sym typeface="Arial"/>
              </a:rPr>
              <a:t> –  AI-Powered College Admission Agent </a:t>
            </a:r>
            <a:endParaRPr b="1" i="0" sz="2400" u="none" cap="none" strike="noStrike">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576072" y="1234440"/>
            <a:ext cx="10607100" cy="5631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SzPts val="1100"/>
              <a:buNone/>
            </a:pPr>
            <a:r>
              <a:rPr b="1" lang="en-US" sz="1900">
                <a:solidFill>
                  <a:schemeClr val="dk1"/>
                </a:solidFill>
              </a:rPr>
              <a:t>The Challenge:</a:t>
            </a:r>
            <a:endParaRPr b="1"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rPr>
              <a:t> Prospective students and their families often struggle to navigate complex, scattered institutional databases to find up-to-date information regarding admission policies, fee structures, and eligibility criteria. This data fragmentation forces a heavy reliance on manual inquiries—such as phone calls, emails, and physical campus visits. These manual processes are highly inefficient, prone to delays, and severely overwhelm university administration staff during peak admission seasons.</a:t>
            </a:r>
            <a:endParaRPr sz="1900">
              <a:solidFill>
                <a:schemeClr val="dk1"/>
              </a:solidFill>
            </a:endParaRPr>
          </a:p>
          <a:p>
            <a:pPr indent="0" lvl="0" marL="0" rtl="0" algn="l">
              <a:lnSpc>
                <a:spcPct val="115000"/>
              </a:lnSpc>
              <a:spcBef>
                <a:spcPts val="1200"/>
              </a:spcBef>
              <a:spcAft>
                <a:spcPts val="0"/>
              </a:spcAft>
              <a:buSzPts val="1100"/>
              <a:buNone/>
            </a:pPr>
            <a:r>
              <a:rPr b="1" lang="en-US" sz="1900">
                <a:solidFill>
                  <a:schemeClr val="dk1"/>
                </a:solidFill>
              </a:rPr>
              <a:t>The Objective:</a:t>
            </a:r>
            <a:r>
              <a:rPr lang="en-US" sz="1900">
                <a:solidFill>
                  <a:schemeClr val="dk1"/>
                </a:solidFill>
              </a:rPr>
              <a:t> </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rPr>
              <a:t>To design and deploy an Agentic AI assistant powered by Retrieval-Augmented Generation (RAG) that autonomously streamlines the student admission process. The objective is to provide a 24/7, highly accurate, conversational digital assistant that retrieves verified university data in real-time. By doing so, the system will reduce administrative bottlenecks, boost operational efficiency, and significantly enhance the accessibility and transparency of the college application experience</a:t>
            </a:r>
            <a:r>
              <a:rPr lang="en-US" sz="1100">
                <a:solidFill>
                  <a:schemeClr val="dk1"/>
                </a:solidFill>
              </a:rPr>
              <a:t>.</a:t>
            </a:r>
            <a:endParaRPr sz="1100">
              <a:solidFill>
                <a:schemeClr val="dk1"/>
              </a:solidFill>
            </a:endParaRPr>
          </a:p>
          <a:p>
            <a:pPr indent="0" lvl="0" marL="0" marR="0" rtl="0" algn="l">
              <a:lnSpc>
                <a:spcPct val="100000"/>
              </a:lnSpc>
              <a:spcBef>
                <a:spcPts val="1200"/>
              </a:spcBef>
              <a:spcAft>
                <a:spcPts val="0"/>
              </a:spcAft>
              <a:buNone/>
            </a:pPr>
            <a:r>
              <a:t/>
            </a:r>
            <a:endParaRPr b="1"/>
          </a:p>
        </p:txBody>
      </p:sp>
      <p:sp>
        <p:nvSpPr>
          <p:cNvPr id="95" name="Google Shape;95;p1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455468" y="1168656"/>
            <a:ext cx="10607100" cy="6175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SzPts val="1100"/>
              <a:buNone/>
            </a:pPr>
            <a:r>
              <a:rPr b="1" lang="en-US" sz="1600">
                <a:solidFill>
                  <a:schemeClr val="dk1"/>
                </a:solidFill>
              </a:rPr>
              <a:t>Proposed Solution: AI-Powered Admission Agent</a:t>
            </a:r>
            <a:endParaRPr b="1" sz="1600">
              <a:solidFill>
                <a:schemeClr val="dk1"/>
              </a:solidFill>
            </a:endParaRPr>
          </a:p>
          <a:p>
            <a:pPr indent="0" lvl="0" marL="0" rtl="0" algn="l">
              <a:lnSpc>
                <a:spcPct val="115000"/>
              </a:lnSpc>
              <a:spcBef>
                <a:spcPts val="1200"/>
              </a:spcBef>
              <a:spcAft>
                <a:spcPts val="0"/>
              </a:spcAft>
              <a:buSzPts val="1100"/>
              <a:buNone/>
            </a:pPr>
            <a:r>
              <a:rPr lang="en-US" sz="1600">
                <a:solidFill>
                  <a:schemeClr val="dk1"/>
                </a:solidFill>
              </a:rPr>
              <a:t>The proposed solution is an AI-powered College Admission Agent built using Python Flask, LangChain, IBM watsonx.ai, and Granite Models to provide personalized, real-time academic guidance. The system addresses challenges in navigating university policies, fee structures, and eligibility criteria through an intelligent, modular architecture.</a:t>
            </a:r>
            <a:endParaRPr sz="1600">
              <a:solidFill>
                <a:schemeClr val="dk1"/>
              </a:solidFill>
            </a:endParaRPr>
          </a:p>
          <a:p>
            <a:pPr indent="0" lvl="0" marL="0" rtl="0" algn="l">
              <a:lnSpc>
                <a:spcPct val="115000"/>
              </a:lnSpc>
              <a:spcBef>
                <a:spcPts val="1200"/>
              </a:spcBef>
              <a:spcAft>
                <a:spcPts val="0"/>
              </a:spcAft>
              <a:buSzPts val="1100"/>
              <a:buNone/>
            </a:pPr>
            <a:r>
              <a:rPr lang="en-US" sz="1600">
                <a:solidFill>
                  <a:schemeClr val="dk1"/>
                </a:solidFill>
              </a:rPr>
              <a:t>At its core, the solution uses a Retrieval-Augmented Generation (RAG) pipeline to fetch accurate institutional data from verified university datasets. This unstructured text is embedded and stored in a local FAISS vector database, enabling the system to retrieve and summarize specific admission details (such as B.Tech CSE deadlines, course matrices, and hostel fees) using Granite models.</a:t>
            </a:r>
            <a:endParaRPr sz="1600">
              <a:solidFill>
                <a:schemeClr val="dk1"/>
              </a:solidFill>
            </a:endParaRPr>
          </a:p>
          <a:p>
            <a:pPr indent="0" lvl="0" marL="0" rtl="0" algn="l">
              <a:lnSpc>
                <a:spcPct val="115000"/>
              </a:lnSpc>
              <a:spcBef>
                <a:spcPts val="1200"/>
              </a:spcBef>
              <a:spcAft>
                <a:spcPts val="0"/>
              </a:spcAft>
              <a:buSzPts val="1100"/>
              <a:buNone/>
            </a:pPr>
            <a:r>
              <a:rPr lang="en-US" sz="1600">
                <a:solidFill>
                  <a:schemeClr val="dk1"/>
                </a:solidFill>
              </a:rPr>
              <a:t>The system consists of four key functional components:</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b="1" lang="en-US" sz="1600">
                <a:solidFill>
                  <a:schemeClr val="dk1"/>
                </a:solidFill>
              </a:rPr>
              <a:t>Vector Retrieval Engine</a:t>
            </a:r>
            <a:r>
              <a:rPr lang="en-US" sz="1600">
                <a:solidFill>
                  <a:schemeClr val="dk1"/>
                </a:solidFill>
              </a:rPr>
              <a:t> searches the FAISS index to instantly extract highly relevant contextual data from the university knowledge base.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Granite AI Generator</a:t>
            </a:r>
            <a:r>
              <a:rPr lang="en-US" sz="1600">
                <a:solidFill>
                  <a:schemeClr val="dk1"/>
                </a:solidFill>
              </a:rPr>
              <a:t> formulates precise, natural language responses strictly based on the retrieved facts, eliminating hallucinations and ensuring trust.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Conversational Memory Pipeline</a:t>
            </a:r>
            <a:r>
              <a:rPr lang="en-US" sz="1600">
                <a:solidFill>
                  <a:schemeClr val="dk1"/>
                </a:solidFill>
              </a:rPr>
              <a:t> maintains the context of the applicant's inquiries, allowing for natural, follow-up questions during the session.</a:t>
            </a:r>
            <a:endParaRPr sz="16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600">
                <a:solidFill>
                  <a:schemeClr val="dk1"/>
                </a:solidFill>
              </a:rPr>
              <a:t>Interactive Web Dashboard</a:t>
            </a:r>
            <a:r>
              <a:rPr lang="en-US" sz="1600">
                <a:solidFill>
                  <a:schemeClr val="dk1"/>
                </a:solidFill>
              </a:rPr>
              <a:t> provides a responsive, dark-mode chat interface built with Flask and Bootstrap for applicants to interact with the agent intuitively</a:t>
            </a:r>
            <a:r>
              <a:rPr lang="en-US" sz="700">
                <a:solidFill>
                  <a:schemeClr val="dk1"/>
                </a:solidFill>
              </a:rPr>
              <a:t>.</a:t>
            </a:r>
            <a:endParaRPr sz="700">
              <a:solidFill>
                <a:schemeClr val="dk1"/>
              </a:solidFill>
            </a:endParaRPr>
          </a:p>
          <a:p>
            <a:pPr indent="0" lvl="0" marL="0" marR="0" rtl="0" algn="l">
              <a:lnSpc>
                <a:spcPct val="100000"/>
              </a:lnSpc>
              <a:spcBef>
                <a:spcPts val="1200"/>
              </a:spcBef>
              <a:spcAft>
                <a:spcPts val="0"/>
              </a:spcAft>
              <a:buNone/>
            </a:pPr>
            <a:r>
              <a:t/>
            </a:r>
            <a:endParaRPr b="1"/>
          </a:p>
        </p:txBody>
      </p:sp>
      <p:sp>
        <p:nvSpPr>
          <p:cNvPr id="101" name="Google Shape;101;p1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16"/>
          <p:cNvSpPr txBox="1"/>
          <p:nvPr/>
        </p:nvSpPr>
        <p:spPr>
          <a:xfrm>
            <a:off x="777240" y="1207008"/>
            <a:ext cx="10515600" cy="6680400"/>
          </a:xfrm>
          <a:prstGeom prst="rect">
            <a:avLst/>
          </a:prstGeom>
          <a:noFill/>
          <a:ln>
            <a:noFill/>
          </a:ln>
        </p:spPr>
        <p:txBody>
          <a:bodyPr anchorCtr="0" anchor="t" bIns="45700" lIns="91425" spcFirstLastPara="1" rIns="91425" wrap="square" tIns="45700">
            <a:spAutoFit/>
          </a:bodyPr>
          <a:lstStyle/>
          <a:p>
            <a:pPr indent="0" lvl="0" marL="457200" rtl="0" algn="l">
              <a:lnSpc>
                <a:spcPct val="115000"/>
              </a:lnSpc>
              <a:spcBef>
                <a:spcPts val="0"/>
              </a:spcBef>
              <a:spcAft>
                <a:spcPts val="0"/>
              </a:spcAft>
              <a:buNone/>
            </a:pPr>
            <a:r>
              <a:t/>
            </a:r>
            <a:endParaRPr sz="20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rPr>
              <a:t>Python Flask Framework</a:t>
            </a:r>
            <a:r>
              <a:rPr lang="en-US" sz="1900">
                <a:solidFill>
                  <a:schemeClr val="dk1"/>
                </a:solidFill>
              </a:rPr>
              <a:t> – For designing and orchestrating the backend API and serving the web-based chat interface.</a:t>
            </a:r>
            <a:endParaRPr sz="1900">
              <a:solidFill>
                <a:schemeClr val="dk1"/>
              </a:solidFill>
            </a:endParaRPr>
          </a:p>
          <a:p>
            <a:pPr indent="0" lvl="0" marL="914400" rtl="0" algn="l">
              <a:spcBef>
                <a:spcPts val="0"/>
              </a:spcBef>
              <a:spcAft>
                <a:spcPts val="0"/>
              </a:spcAft>
              <a:buNone/>
            </a:pPr>
            <a:r>
              <a:t/>
            </a: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rPr>
              <a:t>IBM Granite Model (ibm-granite-3-1-8b-base)</a:t>
            </a:r>
            <a:r>
              <a:rPr lang="en-US" sz="1900">
                <a:solidFill>
                  <a:schemeClr val="dk1"/>
                </a:solidFill>
              </a:rPr>
              <a:t> – For natural language understanding, contextual reasoning, and generating professional, accurate responses.</a:t>
            </a:r>
            <a:endParaRPr sz="1900">
              <a:solidFill>
                <a:schemeClr val="dk1"/>
              </a:solidFill>
            </a:endParaRPr>
          </a:p>
          <a:p>
            <a:pPr indent="0" lvl="0" marL="914400" rtl="0" algn="l">
              <a:spcBef>
                <a:spcPts val="0"/>
              </a:spcBef>
              <a:spcAft>
                <a:spcPts val="0"/>
              </a:spcAft>
              <a:buNone/>
            </a:pPr>
            <a:r>
              <a:t/>
            </a: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rPr>
              <a:t>IBM Cloud</a:t>
            </a:r>
            <a:r>
              <a:rPr lang="en-US" sz="1900">
                <a:solidFill>
                  <a:schemeClr val="dk1"/>
                </a:solidFill>
              </a:rPr>
              <a:t> – Provides a reliable, secure, and scalable environment for API access to the Granite models.</a:t>
            </a:r>
            <a:endParaRPr sz="1900">
              <a:solidFill>
                <a:schemeClr val="dk1"/>
              </a:solidFill>
            </a:endParaRPr>
          </a:p>
          <a:p>
            <a:pPr indent="0" lvl="0" marL="914400" rtl="0" algn="l">
              <a:spcBef>
                <a:spcPts val="0"/>
              </a:spcBef>
              <a:spcAft>
                <a:spcPts val="0"/>
              </a:spcAft>
              <a:buNone/>
            </a:pPr>
            <a:r>
              <a:t/>
            </a: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rPr>
              <a:t>RAG (Retrieval-Augmented Generation)</a:t>
            </a:r>
            <a:r>
              <a:rPr lang="en-US" sz="1900">
                <a:solidFill>
                  <a:schemeClr val="dk1"/>
                </a:solidFill>
              </a:rPr>
              <a:t> – To fetch real institutional data first, then generate intelligent answers, making the Admission Agent trustworthy and eliminating false information.</a:t>
            </a:r>
            <a:endParaRPr sz="1900">
              <a:solidFill>
                <a:schemeClr val="dk1"/>
              </a:solidFill>
            </a:endParaRPr>
          </a:p>
          <a:p>
            <a:pPr indent="0" lvl="0" marL="914400" rtl="0" algn="l">
              <a:spcBef>
                <a:spcPts val="0"/>
              </a:spcBef>
              <a:spcAft>
                <a:spcPts val="0"/>
              </a:spcAft>
              <a:buNone/>
            </a:pPr>
            <a:r>
              <a:t/>
            </a: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rPr>
              <a:t>IBM Watsonx.ai</a:t>
            </a:r>
            <a:r>
              <a:rPr lang="en-US" sz="1900">
                <a:solidFill>
                  <a:schemeClr val="dk1"/>
                </a:solidFill>
              </a:rPr>
              <a:t> – For model deployment, API access, and AI governance.</a:t>
            </a:r>
            <a:endParaRPr sz="1900">
              <a:solidFill>
                <a:schemeClr val="dk1"/>
              </a:solidFill>
            </a:endParaRPr>
          </a:p>
          <a:p>
            <a:pPr indent="0" lvl="0" marL="914400" rtl="0" algn="l">
              <a:spcBef>
                <a:spcPts val="0"/>
              </a:spcBef>
              <a:spcAft>
                <a:spcPts val="0"/>
              </a:spcAft>
              <a:buNone/>
            </a:pPr>
            <a:r>
              <a:t/>
            </a: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rPr>
              <a:t>Vector Database (FAISS CPU)</a:t>
            </a:r>
            <a:r>
              <a:rPr lang="en-US" sz="1900">
                <a:solidFill>
                  <a:schemeClr val="dk1"/>
                </a:solidFill>
              </a:rPr>
              <a:t> – For chunking text, creating mathematical embeddings, and enabling high-speed semantic search of the admission data.</a:t>
            </a:r>
            <a:endParaRPr sz="1900">
              <a:solidFill>
                <a:schemeClr val="dk1"/>
              </a:solidFill>
            </a:endParaRPr>
          </a:p>
          <a:p>
            <a:pPr indent="0" lvl="0" marL="457200" marR="0" rtl="0" algn="l">
              <a:lnSpc>
                <a:spcPct val="100000"/>
              </a:lnSpc>
              <a:spcBef>
                <a:spcPts val="0"/>
              </a:spcBef>
              <a:spcAft>
                <a:spcPts val="0"/>
              </a:spcAft>
              <a:buNone/>
            </a:pPr>
            <a:r>
              <a:t/>
            </a:r>
            <a:endParaRPr b="1" sz="1800"/>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lang="en-US" sz="2400"/>
              <a:t>Core Framework Components Used </a:t>
            </a:r>
            <a:r>
              <a:rPr b="1" i="0" lang="en-US" sz="2400" u="none" cap="none" strike="noStrike">
                <a:solidFill>
                  <a:srgbClr val="000000"/>
                </a:solidFill>
                <a:latin typeface="Arial"/>
                <a:ea typeface="Arial"/>
                <a:cs typeface="Arial"/>
                <a:sym typeface="Arial"/>
              </a:rPr>
              <a:t> -</a:t>
            </a:r>
            <a:endParaRPr b="1" i="0" sz="2400" u="none" cap="none" strike="noStrike">
              <a:solidFill>
                <a:srgbClr val="000000"/>
              </a:solidFill>
              <a:latin typeface="Arial"/>
              <a:ea typeface="Arial"/>
              <a:cs typeface="Arial"/>
              <a:sym typeface="Arial"/>
            </a:endParaRPr>
          </a:p>
        </p:txBody>
      </p:sp>
      <p:sp>
        <p:nvSpPr>
          <p:cNvPr id="113" name="Google Shape;113;p1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1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1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1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1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1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17"/>
          <p:cNvSpPr txBox="1"/>
          <p:nvPr/>
        </p:nvSpPr>
        <p:spPr>
          <a:xfrm>
            <a:off x="474825" y="882575"/>
            <a:ext cx="11717100" cy="6141600"/>
          </a:xfrm>
          <a:prstGeom prst="rect">
            <a:avLst/>
          </a:prstGeom>
          <a:noFill/>
          <a:ln>
            <a:noFill/>
          </a:ln>
        </p:spPr>
        <p:txBody>
          <a:bodyPr anchorCtr="0" anchor="t" bIns="45700" lIns="91425" spcFirstLastPara="1" rIns="91425" wrap="square" tIns="45700">
            <a:spAutoFit/>
          </a:bodyPr>
          <a:lstStyle/>
          <a:p>
            <a:pPr indent="-349250" lvl="0" marL="457200" rtl="0" algn="l">
              <a:spcBef>
                <a:spcPts val="0"/>
              </a:spcBef>
              <a:spcAft>
                <a:spcPts val="0"/>
              </a:spcAft>
              <a:buClr>
                <a:schemeClr val="dk1"/>
              </a:buClr>
              <a:buSzPts val="1900"/>
              <a:buChar char="●"/>
            </a:pPr>
            <a:r>
              <a:rPr b="1" lang="en-US" sz="1900">
                <a:solidFill>
                  <a:schemeClr val="dk1"/>
                </a:solidFill>
              </a:rPr>
              <a:t>User Interaction Interface (Chat Input &amp; Output):</a:t>
            </a:r>
            <a:r>
              <a:rPr lang="en-US" sz="1900">
                <a:solidFill>
                  <a:schemeClr val="dk1"/>
                </a:solidFill>
              </a:rPr>
              <a:t> A custom-built,</a:t>
            </a:r>
            <a:r>
              <a:rPr lang="en-US" sz="1900">
                <a:solidFill>
                  <a:schemeClr val="dk1"/>
                </a:solidFill>
              </a:rPr>
              <a:t> </a:t>
            </a:r>
            <a:r>
              <a:rPr lang="en-US" sz="1900">
                <a:solidFill>
                  <a:schemeClr val="dk1"/>
                </a:solidFill>
              </a:rPr>
              <a:t>responsive Flask web dashboard that securely captures prospective students' natural language queries and dynamically displays the AI-generated responses in an intuitive chat format.</a:t>
            </a:r>
            <a:endParaRPr sz="1900">
              <a:solidFill>
                <a:schemeClr val="dk1"/>
              </a:solidFill>
            </a:endParaRPr>
          </a:p>
          <a:p>
            <a:pPr indent="0" lvl="0" marL="457200" rtl="0" algn="l">
              <a:spcBef>
                <a:spcPts val="0"/>
              </a:spcBef>
              <a:spcAft>
                <a:spcPts val="0"/>
              </a:spcAft>
              <a:buNone/>
            </a:pPr>
            <a:r>
              <a:t/>
            </a:r>
            <a:endParaRPr sz="1900">
              <a:solidFill>
                <a:schemeClr val="dk1"/>
              </a:solidFill>
            </a:endParaRPr>
          </a:p>
          <a:p>
            <a:pPr indent="-349250" lvl="0" marL="457200" rtl="0" algn="l">
              <a:spcBef>
                <a:spcPts val="0"/>
              </a:spcBef>
              <a:spcAft>
                <a:spcPts val="0"/>
              </a:spcAft>
              <a:buSzPts val="1900"/>
              <a:buChar char="●"/>
            </a:pPr>
            <a:r>
              <a:rPr b="1" lang="en-US" sz="1900">
                <a:solidFill>
                  <a:schemeClr val="dk1"/>
                </a:solidFill>
              </a:rPr>
              <a:t>Knowledge Ingestion Component (Document Loader):</a:t>
            </a:r>
            <a:r>
              <a:rPr lang="en-US" sz="1900">
                <a:solidFill>
                  <a:schemeClr val="dk1"/>
                </a:solidFill>
              </a:rPr>
              <a:t> Utilizes </a:t>
            </a:r>
            <a:r>
              <a:rPr lang="en-US" sz="1900">
                <a:solidFill>
                  <a:srgbClr val="188038"/>
                </a:solidFill>
                <a:latin typeface="Roboto Mono"/>
                <a:ea typeface="Roboto Mono"/>
                <a:cs typeface="Roboto Mono"/>
                <a:sym typeface="Roboto Mono"/>
              </a:rPr>
              <a:t>RecursiveCharacterTextSplitter</a:t>
            </a:r>
            <a:r>
              <a:rPr lang="en-US" sz="1900">
                <a:solidFill>
                  <a:schemeClr val="dk1"/>
                </a:solidFill>
              </a:rPr>
              <a:t> to act as the file processing module, actively reading, cleaning, and chunking the unstructured institutional data directly from </a:t>
            </a:r>
            <a:r>
              <a:rPr lang="en-US" sz="1900">
                <a:solidFill>
                  <a:srgbClr val="188038"/>
                </a:solidFill>
                <a:latin typeface="Roboto Mono"/>
                <a:ea typeface="Roboto Mono"/>
                <a:cs typeface="Roboto Mono"/>
                <a:sym typeface="Roboto Mono"/>
              </a:rPr>
              <a:t>university_data.txt</a:t>
            </a:r>
            <a:r>
              <a:rPr lang="en-US" sz="1900">
                <a:solidFill>
                  <a:schemeClr val="dk1"/>
                </a:solidFill>
              </a:rPr>
              <a:t>.</a:t>
            </a:r>
            <a:endParaRPr sz="1900">
              <a:solidFill>
                <a:schemeClr val="dk1"/>
              </a:solidFill>
            </a:endParaRPr>
          </a:p>
          <a:p>
            <a:pPr indent="0" lvl="0" marL="457200" rtl="0" algn="l">
              <a:spcBef>
                <a:spcPts val="0"/>
              </a:spcBef>
              <a:spcAft>
                <a:spcPts val="0"/>
              </a:spcAft>
              <a:buNone/>
            </a:pPr>
            <a:r>
              <a:t/>
            </a: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rPr>
              <a:t>Vector Retrieval Database (FAISS):</a:t>
            </a:r>
            <a:r>
              <a:rPr lang="en-US" sz="1900">
                <a:solidFill>
                  <a:schemeClr val="dk1"/>
                </a:solidFill>
              </a:rPr>
              <a:t> Acts as the agent's long-term memory by storing mathematical embeddings (generated via HuggingFace). This allows the system to perform hyper-fast semantic similarity searches across thousands of university policies instantly.</a:t>
            </a:r>
            <a:endParaRPr sz="1900">
              <a:solidFill>
                <a:schemeClr val="dk1"/>
              </a:solidFill>
            </a:endParaRPr>
          </a:p>
          <a:p>
            <a:pPr indent="0" lvl="0" marL="457200" rtl="0" algn="l">
              <a:spcBef>
                <a:spcPts val="0"/>
              </a:spcBef>
              <a:spcAft>
                <a:spcPts val="0"/>
              </a:spcAft>
              <a:buNone/>
            </a:pPr>
            <a:r>
              <a:t/>
            </a:r>
            <a:endParaRPr sz="1900">
              <a:solidFill>
                <a:schemeClr val="dk1"/>
              </a:solidFill>
            </a:endParaRPr>
          </a:p>
          <a:p>
            <a:pPr indent="-349250" lvl="0" marL="457200" rtl="0" algn="l">
              <a:spcBef>
                <a:spcPts val="0"/>
              </a:spcBef>
              <a:spcAft>
                <a:spcPts val="0"/>
              </a:spcAft>
              <a:buSzPts val="1900"/>
              <a:buChar char="●"/>
            </a:pPr>
            <a:r>
              <a:rPr b="1" lang="en-US" sz="1900">
                <a:solidFill>
                  <a:schemeClr val="dk1"/>
                </a:solidFill>
              </a:rPr>
              <a:t>IBM Watsonx.ai Engine (Granite LLM):</a:t>
            </a:r>
            <a:r>
              <a:rPr lang="en-US" sz="1900">
                <a:solidFill>
                  <a:schemeClr val="dk1"/>
                </a:solidFill>
              </a:rPr>
              <a:t> The core reasoning and generation module powered by the </a:t>
            </a:r>
            <a:r>
              <a:rPr lang="en-US" sz="1900">
                <a:solidFill>
                  <a:srgbClr val="188038"/>
                </a:solidFill>
                <a:latin typeface="Roboto Mono"/>
                <a:ea typeface="Roboto Mono"/>
                <a:cs typeface="Roboto Mono"/>
                <a:sym typeface="Roboto Mono"/>
              </a:rPr>
              <a:t>ibm-granite-3-1-8b-base</a:t>
            </a:r>
            <a:r>
              <a:rPr lang="en-US" sz="1900">
                <a:solidFill>
                  <a:schemeClr val="dk1"/>
                </a:solidFill>
              </a:rPr>
              <a:t> model. It processes the retrieved context alongside the user query to synthesize accurate, professional, and hallucination-free answers.</a:t>
            </a:r>
            <a:endParaRPr sz="1900">
              <a:solidFill>
                <a:schemeClr val="dk1"/>
              </a:solidFill>
            </a:endParaRPr>
          </a:p>
          <a:p>
            <a:pPr indent="0" lvl="0" marL="457200" rtl="0" algn="l">
              <a:spcBef>
                <a:spcPts val="0"/>
              </a:spcBef>
              <a:spcAft>
                <a:spcPts val="0"/>
              </a:spcAft>
              <a:buNone/>
            </a:pPr>
            <a:r>
              <a:t/>
            </a: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rPr>
              <a:t>RetrievalQA Orchestration Chain:</a:t>
            </a:r>
            <a:r>
              <a:rPr lang="en-US" sz="1900">
                <a:solidFill>
                  <a:schemeClr val="dk1"/>
                </a:solidFill>
              </a:rPr>
              <a:t> The underlying logical component that binds the entire workflow together—acting as the "Agent." It automatically routes the user's question to the vector store, retrieves the most relevant facts, applies strict guardrail prompts, and feeds everything to the Granite model for final generation.</a:t>
            </a:r>
            <a:endParaRPr sz="1900">
              <a:solidFill>
                <a:schemeClr val="dk1"/>
              </a:solidFill>
            </a:endParaRPr>
          </a:p>
          <a:p>
            <a:pPr indent="0" lvl="0" marL="0" marR="0" rtl="0" algn="l">
              <a:lnSpc>
                <a:spcPct val="100000"/>
              </a:lnSpc>
              <a:spcBef>
                <a:spcPts val="0"/>
              </a:spcBef>
              <a:spcAft>
                <a:spcPts val="0"/>
              </a:spcAft>
              <a:buNone/>
            </a:pPr>
            <a:r>
              <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460800" y="383100"/>
            <a:ext cx="10515600" cy="1071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400">
                <a:latin typeface="Arial"/>
                <a:ea typeface="Arial"/>
                <a:cs typeface="Arial"/>
                <a:sym typeface="Arial"/>
              </a:rPr>
              <a:t>Live Demonstration: Interactive Web Interface</a:t>
            </a:r>
            <a:r>
              <a:rPr lang="en-US" sz="2400">
                <a:latin typeface="Arial"/>
                <a:ea typeface="Arial"/>
                <a:cs typeface="Arial"/>
                <a:sym typeface="Arial"/>
              </a:rPr>
              <a:t> </a:t>
            </a:r>
            <a:endParaRPr sz="2400">
              <a:latin typeface="Arial"/>
              <a:ea typeface="Arial"/>
              <a:cs typeface="Arial"/>
              <a:sym typeface="Arial"/>
            </a:endParaRPr>
          </a:p>
        </p:txBody>
      </p:sp>
      <p:sp>
        <p:nvSpPr>
          <p:cNvPr id="125" name="Google Shape;125;p18"/>
          <p:cNvSpPr txBox="1"/>
          <p:nvPr>
            <p:ph idx="1" type="body"/>
          </p:nvPr>
        </p:nvSpPr>
        <p:spPr>
          <a:xfrm>
            <a:off x="326000" y="1274800"/>
            <a:ext cx="5100900" cy="5019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US" sz="1800">
                <a:latin typeface="Arial"/>
                <a:ea typeface="Arial"/>
                <a:cs typeface="Arial"/>
                <a:sym typeface="Arial"/>
              </a:rPr>
              <a:t>Intuitive User Experience:</a:t>
            </a:r>
            <a:r>
              <a:rPr lang="en-US" sz="1800">
                <a:latin typeface="Arial"/>
                <a:ea typeface="Arial"/>
                <a:cs typeface="Arial"/>
                <a:sym typeface="Arial"/>
              </a:rPr>
              <a:t> Developed a responsive, modern web dashboard using HTML, CSS (Bootstrap), and Vanilla JavaScript.</a:t>
            </a:r>
            <a:endParaRPr sz="18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n-US" sz="1800">
                <a:latin typeface="Arial"/>
                <a:ea typeface="Arial"/>
                <a:cs typeface="Arial"/>
                <a:sym typeface="Arial"/>
              </a:rPr>
              <a:t>Asynchronous Communication:</a:t>
            </a:r>
            <a:r>
              <a:rPr lang="en-US" sz="1800">
                <a:latin typeface="Arial"/>
                <a:ea typeface="Arial"/>
                <a:cs typeface="Arial"/>
                <a:sym typeface="Arial"/>
              </a:rPr>
              <a:t> The frontend communicates seamlessly with the Python Flask backend via asynchronous API fetches, preventing page reloads.</a:t>
            </a:r>
            <a:endParaRPr sz="18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n-US" sz="1800">
                <a:latin typeface="Arial"/>
                <a:ea typeface="Arial"/>
                <a:cs typeface="Arial"/>
                <a:sym typeface="Arial"/>
              </a:rPr>
              <a:t>Real-Time RAG Synthesis:</a:t>
            </a:r>
            <a:r>
              <a:rPr lang="en-US" sz="1800">
                <a:latin typeface="Arial"/>
                <a:ea typeface="Arial"/>
                <a:cs typeface="Arial"/>
                <a:sym typeface="Arial"/>
              </a:rPr>
              <a:t> The interface demonstrates the IBM Granite model successfully parsing user intent and synthesizing localized institutional data into a coherent response.</a:t>
            </a:r>
            <a:endParaRPr sz="18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n-US" sz="1800">
                <a:latin typeface="Arial"/>
                <a:ea typeface="Arial"/>
                <a:cs typeface="Arial"/>
                <a:sym typeface="Arial"/>
              </a:rPr>
              <a:t>Professional Styling:</a:t>
            </a:r>
            <a:r>
              <a:rPr lang="en-US" sz="1800">
                <a:latin typeface="Arial"/>
                <a:ea typeface="Arial"/>
                <a:cs typeface="Arial"/>
                <a:sym typeface="Arial"/>
              </a:rPr>
              <a:t> Designed with an enterprise-grade dark mode to ensure high contrast and readability for prospective students.</a:t>
            </a:r>
            <a:endParaRPr sz="1800">
              <a:latin typeface="Arial"/>
              <a:ea typeface="Arial"/>
              <a:cs typeface="Arial"/>
              <a:sym typeface="Arial"/>
            </a:endParaRPr>
          </a:p>
          <a:p>
            <a:pPr indent="0" lvl="0" marL="0" rtl="0" algn="l">
              <a:spcBef>
                <a:spcPts val="1000"/>
              </a:spcBef>
              <a:spcAft>
                <a:spcPts val="0"/>
              </a:spcAft>
              <a:buNone/>
            </a:pPr>
            <a:r>
              <a:t/>
            </a:r>
            <a:endParaRPr/>
          </a:p>
        </p:txBody>
      </p:sp>
      <p:pic>
        <p:nvPicPr>
          <p:cNvPr id="126" name="Google Shape;126;p18"/>
          <p:cNvPicPr preferRelativeResize="0"/>
          <p:nvPr/>
        </p:nvPicPr>
        <p:blipFill rotWithShape="1">
          <a:blip r:embed="rId3">
            <a:alphaModFix/>
          </a:blip>
          <a:srcRect b="0" l="19079" r="19079" t="0"/>
          <a:stretch/>
        </p:blipFill>
        <p:spPr>
          <a:xfrm>
            <a:off x="5327700" y="1220875"/>
            <a:ext cx="6460300" cy="49784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p:nvPr/>
        </p:nvSpPr>
        <p:spPr>
          <a:xfrm>
            <a:off x="310515" y="323239"/>
            <a:ext cx="5908800" cy="44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lang="en-US" sz="2400"/>
              <a:t>Application Execution Workflow </a:t>
            </a:r>
            <a:r>
              <a:rPr b="1" i="0" lang="en-US" sz="2400" u="none" cap="none" strike="noStrike">
                <a:solidFill>
                  <a:srgbClr val="000000"/>
                </a:solidFill>
                <a:latin typeface="Arial"/>
                <a:ea typeface="Arial"/>
                <a:cs typeface="Arial"/>
                <a:sym typeface="Arial"/>
              </a:rPr>
              <a:t> -</a:t>
            </a:r>
            <a:endParaRPr b="1" i="0" sz="2400" u="none" cap="none" strike="noStrike">
              <a:solidFill>
                <a:srgbClr val="000000"/>
              </a:solidFill>
              <a:latin typeface="Arial"/>
              <a:ea typeface="Arial"/>
              <a:cs typeface="Arial"/>
              <a:sym typeface="Arial"/>
            </a:endParaRPr>
          </a:p>
        </p:txBody>
      </p:sp>
      <p:pic>
        <p:nvPicPr>
          <p:cNvPr id="132" name="Google Shape;132;p19"/>
          <p:cNvPicPr preferRelativeResize="0"/>
          <p:nvPr/>
        </p:nvPicPr>
        <p:blipFill>
          <a:blip r:embed="rId3">
            <a:alphaModFix/>
          </a:blip>
          <a:stretch>
            <a:fillRect/>
          </a:stretch>
        </p:blipFill>
        <p:spPr>
          <a:xfrm>
            <a:off x="152400" y="1929550"/>
            <a:ext cx="12039598" cy="2983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blueprint</a:t>
            </a:r>
            <a:endParaRPr b="0" i="0" sz="2400" u="none" cap="none" strike="noStrike">
              <a:solidFill>
                <a:srgbClr val="000000"/>
              </a:solidFill>
              <a:latin typeface="Arial"/>
              <a:ea typeface="Arial"/>
              <a:cs typeface="Arial"/>
              <a:sym typeface="Arial"/>
            </a:endParaRPr>
          </a:p>
        </p:txBody>
      </p:sp>
      <p:pic>
        <p:nvPicPr>
          <p:cNvPr id="138" name="Google Shape;138;p20"/>
          <p:cNvPicPr preferRelativeResize="0"/>
          <p:nvPr/>
        </p:nvPicPr>
        <p:blipFill>
          <a:blip r:embed="rId3">
            <a:alphaModFix/>
          </a:blip>
          <a:stretch>
            <a:fillRect/>
          </a:stretch>
        </p:blipFill>
        <p:spPr>
          <a:xfrm>
            <a:off x="3714475" y="618825"/>
            <a:ext cx="4250599" cy="62810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1"/>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44" name="Google Shape;144;p21"/>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45" name="Google Shape;145;p21"/>
          <p:cNvSpPr txBox="1"/>
          <p:nvPr/>
        </p:nvSpPr>
        <p:spPr>
          <a:xfrm>
            <a:off x="621792" y="1167493"/>
            <a:ext cx="7406700" cy="4402200"/>
          </a:xfrm>
          <a:prstGeom prst="rect">
            <a:avLst/>
          </a:prstGeom>
          <a:noFill/>
          <a:ln>
            <a:noFill/>
          </a:ln>
        </p:spPr>
        <p:txBody>
          <a:bodyPr anchorCtr="0" anchor="t" bIns="45700" lIns="91425" spcFirstLastPara="1" rIns="91425" wrap="square" tIns="45700">
            <a:spAutoFit/>
          </a:bodyPr>
          <a:lstStyle/>
          <a:p>
            <a:pPr indent="-355600" lvl="0" marL="457200" rtl="0" algn="l">
              <a:spcBef>
                <a:spcPts val="0"/>
              </a:spcBef>
              <a:spcAft>
                <a:spcPts val="0"/>
              </a:spcAft>
              <a:buClr>
                <a:schemeClr val="dk1"/>
              </a:buClr>
              <a:buSzPts val="2000"/>
              <a:buChar char="●"/>
            </a:pPr>
            <a:r>
              <a:rPr b="1" lang="en-US" sz="2000">
                <a:solidFill>
                  <a:schemeClr val="dk1"/>
                </a:solidFill>
              </a:rPr>
              <a:t>Deterministic Fact-Checking:</a:t>
            </a:r>
            <a:r>
              <a:rPr lang="en-US" sz="2000">
                <a:solidFill>
                  <a:schemeClr val="dk1"/>
                </a:solidFill>
              </a:rPr>
              <a:t> Unlike standard generative AI which relies on its pre-trained memory, this agentic system actively searches for the truth within the provided document before speaking.</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55600" lvl="0" marL="457200" rtl="0" algn="l">
              <a:spcBef>
                <a:spcPts val="0"/>
              </a:spcBef>
              <a:spcAft>
                <a:spcPts val="0"/>
              </a:spcAft>
              <a:buClr>
                <a:schemeClr val="dk1"/>
              </a:buClr>
              <a:buSzPts val="2000"/>
              <a:buChar char="●"/>
            </a:pPr>
            <a:r>
              <a:rPr b="1" lang="en-US" sz="2000">
                <a:solidFill>
                  <a:schemeClr val="dk1"/>
                </a:solidFill>
              </a:rPr>
              <a:t>Autonomous Synthesis:</a:t>
            </a:r>
            <a:r>
              <a:rPr lang="en-US" sz="2000">
                <a:solidFill>
                  <a:schemeClr val="dk1"/>
                </a:solidFill>
              </a:rPr>
              <a:t> The agent intelligently combines multiple scattered facts (e.g., pulling tuition fees from paragraph A and hostel fees from paragraph B) into a single, cohesive answer.</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17500" lvl="0" marL="457200" rtl="0" algn="l">
              <a:spcBef>
                <a:spcPts val="0"/>
              </a:spcBef>
              <a:spcAft>
                <a:spcPts val="0"/>
              </a:spcAft>
              <a:buClr>
                <a:schemeClr val="dk1"/>
              </a:buClr>
              <a:buSzPts val="1400"/>
              <a:buChar char="●"/>
            </a:pPr>
            <a:r>
              <a:rPr b="1" lang="en-US" sz="2000">
                <a:solidFill>
                  <a:schemeClr val="dk1"/>
                </a:solidFill>
              </a:rPr>
              <a:t>Adaptive Fallback:</a:t>
            </a:r>
            <a:r>
              <a:rPr lang="en-US" sz="2000">
                <a:solidFill>
                  <a:schemeClr val="dk1"/>
                </a:solidFill>
              </a:rPr>
              <a:t> The agent is programmed with specific instructions to confidently state "I don't know" when asked about data not present in the institutional database, preserving trust and accuracy</a:t>
            </a:r>
            <a:r>
              <a:rPr lang="en-US" sz="1100">
                <a:solidFill>
                  <a:schemeClr val="dk1"/>
                </a:solidFill>
              </a:rPr>
              <a:t>.</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p:nvPr/>
        </p:nvSpPr>
        <p:spPr>
          <a:xfrm>
            <a:off x="793192" y="3415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Token Usage </a:t>
            </a:r>
            <a:endParaRPr b="1" i="0" sz="2400" u="none" cap="none" strike="noStrike">
              <a:solidFill>
                <a:srgbClr val="000000"/>
              </a:solidFill>
              <a:latin typeface="Arial"/>
              <a:ea typeface="Arial"/>
              <a:cs typeface="Arial"/>
              <a:sym typeface="Arial"/>
            </a:endParaRPr>
          </a:p>
        </p:txBody>
      </p:sp>
      <p:sp>
        <p:nvSpPr>
          <p:cNvPr id="151" name="Google Shape;151;p22"/>
          <p:cNvSpPr txBox="1"/>
          <p:nvPr/>
        </p:nvSpPr>
        <p:spPr>
          <a:xfrm>
            <a:off x="897392" y="1042133"/>
            <a:ext cx="437117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sp>
        <p:nvSpPr>
          <p:cNvPr id="152" name="Google Shape;152;p22"/>
          <p:cNvSpPr txBox="1"/>
          <p:nvPr/>
        </p:nvSpPr>
        <p:spPr>
          <a:xfrm>
            <a:off x="-352886" y="822142"/>
            <a:ext cx="2743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id="153" name="Google Shape;153;p22" title="Screenshot 2026-07-10 103503.png"/>
          <p:cNvPicPr preferRelativeResize="0"/>
          <p:nvPr/>
        </p:nvPicPr>
        <p:blipFill>
          <a:blip r:embed="rId3">
            <a:alphaModFix/>
          </a:blip>
          <a:stretch>
            <a:fillRect/>
          </a:stretch>
        </p:blipFill>
        <p:spPr>
          <a:xfrm>
            <a:off x="1593150" y="931900"/>
            <a:ext cx="10505774" cy="2507800"/>
          </a:xfrm>
          <a:prstGeom prst="rect">
            <a:avLst/>
          </a:prstGeom>
          <a:noFill/>
          <a:ln>
            <a:noFill/>
          </a:ln>
        </p:spPr>
      </p:pic>
      <p:sp>
        <p:nvSpPr>
          <p:cNvPr id="154" name="Google Shape;154;p22"/>
          <p:cNvSpPr txBox="1"/>
          <p:nvPr/>
        </p:nvSpPr>
        <p:spPr>
          <a:xfrm>
            <a:off x="0" y="1735250"/>
            <a:ext cx="1545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rPr>
              <a:t>Before Prompt</a:t>
            </a:r>
            <a:endParaRPr>
              <a:solidFill>
                <a:schemeClr val="dk1"/>
              </a:solidFill>
            </a:endParaRPr>
          </a:p>
        </p:txBody>
      </p:sp>
      <p:sp>
        <p:nvSpPr>
          <p:cNvPr id="155" name="Google Shape;155;p22"/>
          <p:cNvSpPr txBox="1"/>
          <p:nvPr/>
        </p:nvSpPr>
        <p:spPr>
          <a:xfrm>
            <a:off x="0" y="4679150"/>
            <a:ext cx="1545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rPr>
              <a:t>After </a:t>
            </a:r>
            <a:r>
              <a:rPr lang="en-US" sz="2000">
                <a:solidFill>
                  <a:schemeClr val="dk1"/>
                </a:solidFill>
              </a:rPr>
              <a:t>Prompt</a:t>
            </a:r>
            <a:endParaRPr>
              <a:solidFill>
                <a:schemeClr val="dk1"/>
              </a:solidFill>
            </a:endParaRPr>
          </a:p>
        </p:txBody>
      </p:sp>
      <p:pic>
        <p:nvPicPr>
          <p:cNvPr id="156" name="Google Shape;156;p22" title="Screenshot 2026-07-10 103758.png"/>
          <p:cNvPicPr preferRelativeResize="0"/>
          <p:nvPr/>
        </p:nvPicPr>
        <p:blipFill>
          <a:blip r:embed="rId4">
            <a:alphaModFix/>
          </a:blip>
          <a:stretch>
            <a:fillRect/>
          </a:stretch>
        </p:blipFill>
        <p:spPr>
          <a:xfrm>
            <a:off x="1545900" y="3788650"/>
            <a:ext cx="10070573" cy="2766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62" name="Google Shape;162;p23"/>
          <p:cNvSpPr txBox="1"/>
          <p:nvPr/>
        </p:nvSpPr>
        <p:spPr>
          <a:xfrm>
            <a:off x="777240" y="1207008"/>
            <a:ext cx="11301900" cy="2862900"/>
          </a:xfrm>
          <a:prstGeom prst="rect">
            <a:avLst/>
          </a:prstGeom>
          <a:noFill/>
          <a:ln>
            <a:noFill/>
          </a:ln>
        </p:spPr>
        <p:txBody>
          <a:bodyPr anchorCtr="0" anchor="t" bIns="45700" lIns="91425" spcFirstLastPara="1" rIns="91425" wrap="square" tIns="45700">
            <a:spAutoFit/>
          </a:bodyPr>
          <a:lstStyle/>
          <a:p>
            <a:pPr indent="-355600" lvl="0" marL="457200" rtl="0" algn="l">
              <a:spcBef>
                <a:spcPts val="0"/>
              </a:spcBef>
              <a:spcAft>
                <a:spcPts val="0"/>
              </a:spcAft>
              <a:buClr>
                <a:schemeClr val="dk1"/>
              </a:buClr>
              <a:buSzPts val="2000"/>
              <a:buChar char="●"/>
            </a:pPr>
            <a:r>
              <a:rPr b="1" lang="en-US" sz="2000">
                <a:solidFill>
                  <a:schemeClr val="dk1"/>
                </a:solidFill>
              </a:rPr>
              <a:t>Zero-Shot Adaptation:</a:t>
            </a:r>
            <a:r>
              <a:rPr lang="en-US" sz="2000">
                <a:solidFill>
                  <a:schemeClr val="dk1"/>
                </a:solidFill>
              </a:rPr>
              <a:t> The system requires zero model retraining to learn new facts; updating the admission criteria is as simple as editing a text file.</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55600" lvl="0" marL="457200" rtl="0" algn="l">
              <a:spcBef>
                <a:spcPts val="0"/>
              </a:spcBef>
              <a:spcAft>
                <a:spcPts val="0"/>
              </a:spcAft>
              <a:buClr>
                <a:schemeClr val="dk1"/>
              </a:buClr>
              <a:buSzPts val="2000"/>
              <a:buChar char="●"/>
            </a:pPr>
            <a:r>
              <a:rPr b="1" lang="en-US" sz="2000">
                <a:solidFill>
                  <a:schemeClr val="dk1"/>
                </a:solidFill>
              </a:rPr>
              <a:t>Semantic Understanding:</a:t>
            </a:r>
            <a:r>
              <a:rPr lang="en-US" sz="2000">
                <a:solidFill>
                  <a:schemeClr val="dk1"/>
                </a:solidFill>
              </a:rPr>
              <a:t> The agent understands the intent behind a question, successfully answering queries even if the student uses typos or completely different phrasing than the source document.</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55600" lvl="0" marL="457200" rtl="0" algn="l">
              <a:spcBef>
                <a:spcPts val="0"/>
              </a:spcBef>
              <a:spcAft>
                <a:spcPts val="0"/>
              </a:spcAft>
              <a:buClr>
                <a:schemeClr val="dk1"/>
              </a:buClr>
              <a:buSzPts val="2000"/>
              <a:buChar char="●"/>
            </a:pPr>
            <a:r>
              <a:rPr b="1" lang="en-US" sz="2000">
                <a:solidFill>
                  <a:schemeClr val="dk1"/>
                </a:solidFill>
              </a:rPr>
              <a:t>Enterprise-Grade Security:</a:t>
            </a:r>
            <a:r>
              <a:rPr lang="en-US" sz="2000">
                <a:solidFill>
                  <a:schemeClr val="dk1"/>
                </a:solidFill>
              </a:rPr>
              <a:t> By utilizing IBM watsonx.ai, data is processed securely, making the architecture viable for scaling to handle sensitive student data in the future.</a:t>
            </a:r>
            <a:endParaRPr b="1" sz="20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68" name="Google Shape;168;p24"/>
          <p:cNvSpPr/>
          <p:nvPr/>
        </p:nvSpPr>
        <p:spPr>
          <a:xfrm>
            <a:off x="1218725" y="1124750"/>
            <a:ext cx="10457400" cy="451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Project Repository URL:</a:t>
            </a:r>
            <a:r>
              <a:rPr lang="en-US" sz="1600">
                <a:solidFill>
                  <a:schemeClr val="dk1"/>
                </a:solidFill>
              </a:rPr>
              <a:t>  https://github.com/Sumitsaini101/College-Admission-Agent</a:t>
            </a:r>
            <a:endParaRPr i="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Repository Contents &amp; Deliverables:</a:t>
            </a:r>
            <a:r>
              <a:rPr lang="en-US" sz="1600">
                <a:solidFill>
                  <a:schemeClr val="dk1"/>
                </a:solidFill>
              </a:rPr>
              <a:t> This public repository contains the complete source code and required documentation for the EduAI Agentic RAG system, structured for easy deployment and evaluation:</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b="1" lang="en-US" sz="1600">
                <a:solidFill>
                  <a:srgbClr val="188038"/>
                </a:solidFill>
                <a:latin typeface="Roboto Mono"/>
                <a:ea typeface="Roboto Mono"/>
                <a:cs typeface="Roboto Mono"/>
                <a:sym typeface="Roboto Mono"/>
              </a:rPr>
              <a:t>app.json</a:t>
            </a:r>
            <a:r>
              <a:rPr lang="en-US" sz="1600">
                <a:solidFill>
                  <a:schemeClr val="dk1"/>
                </a:solidFill>
              </a:rPr>
              <a:t> – Contains project metadata, required environment variables, and execution scripts for deployment.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rgbClr val="188038"/>
                </a:solidFill>
                <a:latin typeface="Roboto Mono"/>
                <a:ea typeface="Roboto Mono"/>
                <a:cs typeface="Roboto Mono"/>
                <a:sym typeface="Roboto Mono"/>
              </a:rPr>
              <a:t>Problem_Statement.pdf</a:t>
            </a:r>
            <a:r>
              <a:rPr lang="en-US" sz="1600">
                <a:solidFill>
                  <a:schemeClr val="dk1"/>
                </a:solidFill>
              </a:rPr>
              <a:t> – The official AICTE / IBM University Engagement challenge document (Problem Statement No. 4).</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rgbClr val="188038"/>
                </a:solidFill>
                <a:latin typeface="Roboto Mono"/>
                <a:ea typeface="Roboto Mono"/>
                <a:cs typeface="Roboto Mono"/>
                <a:sym typeface="Roboto Mono"/>
              </a:rPr>
              <a:t>Project_Presentation.pptx</a:t>
            </a:r>
            <a:r>
              <a:rPr lang="en-US" sz="1600">
                <a:solidFill>
                  <a:schemeClr val="dk1"/>
                </a:solidFill>
              </a:rPr>
              <a:t> – This complete architectural and solution overview presentation.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rgbClr val="188038"/>
                </a:solidFill>
                <a:latin typeface="Roboto Mono"/>
                <a:ea typeface="Roboto Mono"/>
                <a:cs typeface="Roboto Mono"/>
                <a:sym typeface="Roboto Mono"/>
              </a:rPr>
              <a:t>app.py</a:t>
            </a:r>
            <a:r>
              <a:rPr b="1" lang="en-US" sz="1600">
                <a:solidFill>
                  <a:schemeClr val="dk1"/>
                </a:solidFill>
              </a:rPr>
              <a:t> &amp; </a:t>
            </a:r>
            <a:r>
              <a:rPr b="1" lang="en-US" sz="1600">
                <a:solidFill>
                  <a:srgbClr val="188038"/>
                </a:solidFill>
                <a:latin typeface="Roboto Mono"/>
                <a:ea typeface="Roboto Mono"/>
                <a:cs typeface="Roboto Mono"/>
                <a:sym typeface="Roboto Mono"/>
              </a:rPr>
              <a:t>requirements.txt</a:t>
            </a:r>
            <a:r>
              <a:rPr lang="en-US" sz="1600">
                <a:solidFill>
                  <a:schemeClr val="dk1"/>
                </a:solidFill>
              </a:rPr>
              <a:t> – The core Python Flask server, LangChain orchestration logic, and required dependencies.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rgbClr val="188038"/>
                </a:solidFill>
                <a:latin typeface="Roboto Mono"/>
                <a:ea typeface="Roboto Mono"/>
                <a:cs typeface="Roboto Mono"/>
                <a:sym typeface="Roboto Mono"/>
              </a:rPr>
              <a:t>university_data.txt</a:t>
            </a:r>
            <a:r>
              <a:rPr lang="en-US" sz="1600">
                <a:solidFill>
                  <a:schemeClr val="dk1"/>
                </a:solidFill>
              </a:rPr>
              <a:t> – The localized, unstructured knowledge base used for the FAISS vector retrieval.</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rgbClr val="188038"/>
                </a:solidFill>
                <a:latin typeface="Roboto Mono"/>
                <a:ea typeface="Roboto Mono"/>
                <a:cs typeface="Roboto Mono"/>
                <a:sym typeface="Roboto Mono"/>
              </a:rPr>
              <a:t>README.md</a:t>
            </a:r>
            <a:r>
              <a:rPr lang="en-US" sz="1600">
                <a:solidFill>
                  <a:schemeClr val="dk1"/>
                </a:solidFill>
              </a:rPr>
              <a:t> – Comprehensive, enterprise-standard documentation detailing the system architecture, features, and step-by-step setup instructions.</a:t>
            </a:r>
            <a:endParaRPr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74" name="Google Shape;174;p25"/>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355600" lvl="0" marL="457200" rtl="0" algn="l">
              <a:lnSpc>
                <a:spcPct val="162162"/>
              </a:lnSpc>
              <a:spcBef>
                <a:spcPts val="0"/>
              </a:spcBef>
              <a:spcAft>
                <a:spcPts val="0"/>
              </a:spcAft>
              <a:buClr>
                <a:schemeClr val="dk1"/>
              </a:buClr>
              <a:buSzPts val="2000"/>
              <a:buChar char="●"/>
            </a:pPr>
            <a:r>
              <a:rPr b="1" lang="en-US" sz="2000">
                <a:solidFill>
                  <a:schemeClr val="dk1"/>
                </a:solidFill>
              </a:rPr>
              <a:t>Multi-Modal Ingestion:</a:t>
            </a:r>
            <a:r>
              <a:rPr lang="en-US" sz="2000">
                <a:solidFill>
                  <a:schemeClr val="dk1"/>
                </a:solidFill>
              </a:rPr>
              <a:t> Upgrading the LangChain document loaders to directly parse complex PDF brochures, course matrices, and tabular fee structures.</a:t>
            </a:r>
            <a:endParaRPr sz="2000">
              <a:solidFill>
                <a:schemeClr val="dk1"/>
              </a:solidFill>
            </a:endParaRPr>
          </a:p>
          <a:p>
            <a:pPr indent="-355600" lvl="0" marL="457200" rtl="0" algn="l">
              <a:lnSpc>
                <a:spcPct val="162162"/>
              </a:lnSpc>
              <a:spcBef>
                <a:spcPts val="0"/>
              </a:spcBef>
              <a:spcAft>
                <a:spcPts val="0"/>
              </a:spcAft>
              <a:buClr>
                <a:schemeClr val="dk1"/>
              </a:buClr>
              <a:buSzPts val="2000"/>
              <a:buChar char="●"/>
            </a:pPr>
            <a:r>
              <a:rPr b="1" lang="en-US" sz="2000">
                <a:solidFill>
                  <a:schemeClr val="dk1"/>
                </a:solidFill>
              </a:rPr>
              <a:t>Predictive Analytics Dashboard:</a:t>
            </a:r>
            <a:r>
              <a:rPr lang="en-US" sz="2000">
                <a:solidFill>
                  <a:schemeClr val="dk1"/>
                </a:solidFill>
              </a:rPr>
              <a:t> Adding a backend feature to log user queries, allowing college administrators to identify the most frequently asked questions and admission trends.</a:t>
            </a:r>
            <a:endParaRPr sz="2000">
              <a:solidFill>
                <a:schemeClr val="dk1"/>
              </a:solidFill>
            </a:endParaRPr>
          </a:p>
          <a:p>
            <a:pPr indent="-355600" lvl="0" marL="457200" rtl="0" algn="l">
              <a:lnSpc>
                <a:spcPct val="162162"/>
              </a:lnSpc>
              <a:spcBef>
                <a:spcPts val="0"/>
              </a:spcBef>
              <a:spcAft>
                <a:spcPts val="0"/>
              </a:spcAft>
              <a:buClr>
                <a:schemeClr val="dk1"/>
              </a:buClr>
              <a:buSzPts val="2000"/>
              <a:buChar char="●"/>
            </a:pPr>
            <a:r>
              <a:rPr b="1" lang="en-US" sz="2000">
                <a:solidFill>
                  <a:schemeClr val="dk1"/>
                </a:solidFill>
              </a:rPr>
              <a:t>Omnichannel Deployment:</a:t>
            </a:r>
            <a:r>
              <a:rPr lang="en-US" sz="2000">
                <a:solidFill>
                  <a:schemeClr val="dk1"/>
                </a:solidFill>
              </a:rPr>
              <a:t> Porting the Flask API to a webhook, enabling the admission agent to answer queries directly via WhatsApp and the official university student portal.</a:t>
            </a:r>
            <a:endParaRPr sz="2000">
              <a:solidFill>
                <a:schemeClr val="dk1"/>
              </a:solidFill>
            </a:endParaRPr>
          </a:p>
          <a:p>
            <a:pPr indent="0" lvl="0" marL="457200" marR="0" rtl="0" algn="l">
              <a:lnSpc>
                <a:spcPct val="162162"/>
              </a:lnSpc>
              <a:spcBef>
                <a:spcPts val="0"/>
              </a:spcBef>
              <a:spcAft>
                <a:spcPts val="0"/>
              </a:spcAft>
              <a:buNone/>
            </a:pPr>
            <a:r>
              <a:t/>
            </a:r>
            <a:endParaRPr b="1" sz="2000">
              <a:solidFill>
                <a:schemeClr val="dk1"/>
              </a:solidFill>
            </a:endParaRPr>
          </a:p>
        </p:txBody>
      </p:sp>
      <p:sp>
        <p:nvSpPr>
          <p:cNvPr id="175" name="Google Shape;175;p25"/>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6" name="Google Shape;176;p25"/>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26" title="Screenshot 2026-07-10 093051.png"/>
          <p:cNvPicPr preferRelativeResize="0"/>
          <p:nvPr/>
        </p:nvPicPr>
        <p:blipFill rotWithShape="1">
          <a:blip r:embed="rId3">
            <a:alphaModFix/>
          </a:blip>
          <a:srcRect b="6248" l="0" r="0" t="6240"/>
          <a:stretch/>
        </p:blipFill>
        <p:spPr>
          <a:xfrm>
            <a:off x="1140862" y="1485577"/>
            <a:ext cx="6911761" cy="4520796"/>
          </a:xfrm>
          <a:prstGeom prst="rect">
            <a:avLst/>
          </a:prstGeom>
          <a:noFill/>
          <a:ln cap="flat" cmpd="sng" w="19050">
            <a:solidFill>
              <a:srgbClr val="000000"/>
            </a:solidFill>
            <a:prstDash val="solid"/>
            <a:round/>
            <a:headEnd len="sm" w="sm" type="none"/>
            <a:tailEnd len="sm" w="sm" type="none"/>
          </a:ln>
        </p:spPr>
      </p:pic>
      <p:sp>
        <p:nvSpPr>
          <p:cNvPr id="182" name="Google Shape;182;p26"/>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p26"/>
          <p:cNvSpPr txBox="1"/>
          <p:nvPr/>
        </p:nvSpPr>
        <p:spPr>
          <a:xfrm>
            <a:off x="552048" y="690061"/>
            <a:ext cx="63899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7" title="Screenshot 2026-07-10 093141.png"/>
          <p:cNvPicPr preferRelativeResize="0"/>
          <p:nvPr/>
        </p:nvPicPr>
        <p:blipFill rotWithShape="1">
          <a:blip r:embed="rId3">
            <a:alphaModFix/>
          </a:blip>
          <a:srcRect b="4312" l="0" r="0" t="4322"/>
          <a:stretch/>
        </p:blipFill>
        <p:spPr>
          <a:xfrm>
            <a:off x="2512736" y="1712637"/>
            <a:ext cx="7177553" cy="4658577"/>
          </a:xfrm>
          <a:prstGeom prst="rect">
            <a:avLst/>
          </a:prstGeom>
          <a:noFill/>
          <a:ln cap="flat" cmpd="sng" w="19050">
            <a:solidFill>
              <a:srgbClr val="000000"/>
            </a:solidFill>
            <a:prstDash val="solid"/>
            <a:round/>
            <a:headEnd len="sm" w="sm" type="none"/>
            <a:tailEnd len="sm" w="sm" type="none"/>
          </a:ln>
        </p:spPr>
      </p:pic>
      <p:sp>
        <p:nvSpPr>
          <p:cNvPr id="189" name="Google Shape;189;p27"/>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27"/>
          <p:cNvSpPr txBox="1"/>
          <p:nvPr/>
        </p:nvSpPr>
        <p:spPr>
          <a:xfrm>
            <a:off x="496843" y="800470"/>
            <a:ext cx="543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8"/>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